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 Presidents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Kennedy</c:v>
                  </c:pt>
                  <c:pt idx="1">
                    <c:v>Eisenhower</c:v>
                  </c:pt>
                  <c:pt idx="2">
                    <c:v>Carter</c:v>
                  </c:pt>
                  <c:pt idx="3">
                    <c:v>Nixon</c:v>
                  </c:pt>
                  <c:pt idx="4">
                    <c:v>Reagan</c:v>
                  </c:pt>
                  <c:pt idx="5">
                    <c:v>Bush 41</c:v>
                  </c:pt>
                  <c:pt idx="6">
                    <c:v>Bush 43</c:v>
                  </c:pt>
                  <c:pt idx="7">
                    <c:v>Obama</c:v>
                  </c:pt>
                  <c:pt idx="8">
                    <c:v>Clinton</c:v>
                  </c:pt>
                  <c:pt idx="9">
                    <c:v>Biden</c:v>
                  </c:pt>
                  <c:pt idx="10">
                    <c:v>Trump II</c:v>
                  </c:pt>
                  <c:pt idx="11">
                    <c:v>Trump 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</c:v>
                </c:pt>
                <c:pt idx="1">
                  <c:v>69</c:v>
                </c:pt>
                <c:pt idx="2">
                  <c:v>64</c:v>
                </c:pt>
                <c:pt idx="3">
                  <c:v>61</c:v>
                </c:pt>
                <c:pt idx="4">
                  <c:v>58</c:v>
                </c:pt>
                <c:pt idx="5">
                  <c:v>57</c:v>
                </c:pt>
                <c:pt idx="6">
                  <c:v>57</c:v>
                </c:pt>
                <c:pt idx="7">
                  <c:v>57</c:v>
                </c:pt>
                <c:pt idx="8">
                  <c:v>52</c:v>
                </c:pt>
                <c:pt idx="9">
                  <c:v>49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Trump Terms</c:v>
                </c:pt>
              </c:strCache>
            </c:strRef>
          </c:tx>
          <c:spPr>
            <a:solidFill>
              <a:srgbClr val="B41E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Kennedy</c:v>
                  </c:pt>
                  <c:pt idx="1">
                    <c:v>Eisenhower</c:v>
                  </c:pt>
                  <c:pt idx="2">
                    <c:v>Carter</c:v>
                  </c:pt>
                  <c:pt idx="3">
                    <c:v>Nixon</c:v>
                  </c:pt>
                  <c:pt idx="4">
                    <c:v>Reagan</c:v>
                  </c:pt>
                  <c:pt idx="5">
                    <c:v>Bush 41</c:v>
                  </c:pt>
                  <c:pt idx="6">
                    <c:v>Bush 43</c:v>
                  </c:pt>
                  <c:pt idx="7">
                    <c:v>Obama</c:v>
                  </c:pt>
                  <c:pt idx="8">
                    <c:v>Clinton</c:v>
                  </c:pt>
                  <c:pt idx="9">
                    <c:v>Biden</c:v>
                  </c:pt>
                  <c:pt idx="10">
                    <c:v>Trump II</c:v>
                  </c:pt>
                  <c:pt idx="11">
                    <c:v>Trump I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44</c:v>
                </c:pt>
                <c:pt idx="11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A5C"/>
                </a:solidFill>
                <a:latin typeface="Arial"/>
              </a:rPr>
              <a:t>2025 Monthly Approval Trajectory vs. Trump 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Trump II (2025)</c:v>
                </c:pt>
              </c:strCache>
            </c:strRef>
          </c:tx>
          <c:spPr>
            <a:solidFill>
              <a:srgbClr val="B41E1E"/>
            </a:solidFill>
            <a:ln w="25400" cap="flat">
              <a:solidFill>
                <a:srgbClr val="B41E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1E1E"/>
              </a:solidFill>
              <a:ln w="9525" cap="flat">
                <a:solidFill>
                  <a:srgbClr val="B41E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48</c:v>
                </c:pt>
                <c:pt idx="2">
                  <c:v>47</c:v>
                </c:pt>
                <c:pt idx="3">
                  <c:v>44</c:v>
                </c:pt>
                <c:pt idx="4">
                  <c:v>46</c:v>
                </c:pt>
                <c:pt idx="5">
                  <c:v>48</c:v>
                </c:pt>
                <c:pt idx="6">
                  <c:v>46</c:v>
                </c:pt>
                <c:pt idx="7">
                  <c:v>44</c:v>
                </c:pt>
                <c:pt idx="8">
                  <c:v>44</c:v>
                </c:pt>
                <c:pt idx="9">
                  <c:v>43</c:v>
                </c:pt>
                <c:pt idx="10">
                  <c:v>38</c:v>
                </c:pt>
                <c:pt idx="11">
                  <c:v>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Trump I (2017)</c:v>
                </c:pt>
              </c:strCache>
            </c:strRef>
          </c:tx>
          <c:spPr>
            <a:solidFill>
              <a:srgbClr val="CC7700"/>
            </a:solidFill>
            <a:ln w="25400" cap="flat">
              <a:solidFill>
                <a:srgbClr val="CC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7700"/>
              </a:solidFill>
              <a:ln w="9525" cap="flat">
                <a:solidFill>
                  <a:srgbClr val="CC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</c:v>
                </c:pt>
                <c:pt idx="1">
                  <c:v>43</c:v>
                </c:pt>
                <c:pt idx="2">
                  <c:v>42</c:v>
                </c:pt>
                <c:pt idx="3">
                  <c:v>41</c:v>
                </c:pt>
                <c:pt idx="4">
                  <c:v>39</c:v>
                </c:pt>
                <c:pt idx="5">
                  <c:v>38</c:v>
                </c:pt>
                <c:pt idx="6">
                  <c:v>38</c:v>
                </c:pt>
                <c:pt idx="7">
                  <c:v>35</c:v>
                </c:pt>
                <c:pt idx="8">
                  <c:v>37</c:v>
                </c:pt>
                <c:pt idx="9">
                  <c:v>38</c:v>
                </c:pt>
                <c:pt idx="10">
                  <c:v>38</c:v>
                </c:pt>
                <c:pt idx="11">
                  <c:v>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Historical Mean</c:v>
                </c:pt>
              </c:strCache>
            </c:strRef>
          </c:tx>
          <c:spPr>
            <a:solidFill>
              <a:srgbClr val="1A3A5C"/>
            </a:solidFill>
            <a:ln w="25400" cap="flat">
              <a:solidFill>
                <a:srgbClr val="1A3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A5C"/>
              </a:solidFill>
              <a:ln w="9525" cap="flat">
                <a:solidFill>
                  <a:srgbClr val="1A3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</c:v>
                </c:pt>
                <c:pt idx="1">
                  <c:v>56</c:v>
                </c:pt>
                <c:pt idx="2">
                  <c:v>56</c:v>
                </c:pt>
                <c:pt idx="3">
                  <c:v>56</c:v>
                </c:pt>
                <c:pt idx="4">
                  <c:v>56</c:v>
                </c:pt>
                <c:pt idx="5">
                  <c:v>56</c:v>
                </c:pt>
                <c:pt idx="6">
                  <c:v>56</c:v>
                </c:pt>
                <c:pt idx="7">
                  <c:v>56</c:v>
                </c:pt>
                <c:pt idx="8">
                  <c:v>56</c:v>
                </c:pt>
                <c:pt idx="9">
                  <c:v>56</c:v>
                </c:pt>
                <c:pt idx="10">
                  <c:v>56</c:v>
                </c:pt>
                <c:pt idx="11">
                  <c:v>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3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A5C"/>
                </a:solidFill>
                <a:latin typeface="Arial"/>
              </a:rPr>
              <a:t>Partisan Polarisation (red) vs. Term-Average Approval (blue) — Inverse Relationship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Partisan Gap (pp)</c:v>
                </c:pt>
              </c:strCache>
            </c:strRef>
          </c:tx>
          <c:spPr>
            <a:solidFill>
              <a:srgbClr val="B41E1E"/>
            </a:solidFill>
            <a:ln w="31750" cap="flat">
              <a:solidFill>
                <a:srgbClr val="B41E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41E1E"/>
              </a:solidFill>
              <a:ln w="9525" cap="flat">
                <a:solidFill>
                  <a:srgbClr val="B41E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Ike</c:v>
                  </c:pt>
                  <c:pt idx="1">
                    <c:v>JFK</c:v>
                  </c:pt>
                  <c:pt idx="2">
                    <c:v>Nixon</c:v>
                  </c:pt>
                  <c:pt idx="3">
                    <c:v>Carter</c:v>
                  </c:pt>
                  <c:pt idx="4">
                    <c:v>Reagan</c:v>
                  </c:pt>
                  <c:pt idx="5">
                    <c:v>Bush41</c:v>
                  </c:pt>
                  <c:pt idx="6">
                    <c:v>Clinton</c:v>
                  </c:pt>
                  <c:pt idx="7">
                    <c:v>Bush43</c:v>
                  </c:pt>
                  <c:pt idx="8">
                    <c:v>Obama</c:v>
                  </c:pt>
                  <c:pt idx="9">
                    <c:v>TrumpI</c:v>
                  </c:pt>
                  <c:pt idx="10">
                    <c:v>Biden</c:v>
                  </c:pt>
                  <c:pt idx="11">
                    <c:v>TrumpII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</c:v>
                </c:pt>
                <c:pt idx="1">
                  <c:v>30</c:v>
                </c:pt>
                <c:pt idx="2">
                  <c:v>35</c:v>
                </c:pt>
                <c:pt idx="3">
                  <c:v>36</c:v>
                </c:pt>
                <c:pt idx="4">
                  <c:v>50</c:v>
                </c:pt>
                <c:pt idx="5">
                  <c:v>42</c:v>
                </c:pt>
                <c:pt idx="6">
                  <c:v>52</c:v>
                </c:pt>
                <c:pt idx="7">
                  <c:v>62</c:v>
                </c:pt>
                <c:pt idx="8">
                  <c:v>70</c:v>
                </c:pt>
                <c:pt idx="9">
                  <c:v>81</c:v>
                </c:pt>
                <c:pt idx="10">
                  <c:v>79</c:v>
                </c:pt>
                <c:pt idx="11">
                  <c:v>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 Avg Approval (%)</c:v>
                </c:pt>
              </c:strCache>
            </c:strRef>
          </c:tx>
          <c:spPr>
            <a:solidFill>
              <a:srgbClr val="1A3A5C"/>
            </a:solidFill>
            <a:ln w="31750" cap="flat">
              <a:solidFill>
                <a:srgbClr val="1A3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A3A5C"/>
              </a:solidFill>
              <a:ln w="9525" cap="flat">
                <a:solidFill>
                  <a:srgbClr val="1A3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Ike</c:v>
                  </c:pt>
                  <c:pt idx="1">
                    <c:v>JFK</c:v>
                  </c:pt>
                  <c:pt idx="2">
                    <c:v>Nixon</c:v>
                  </c:pt>
                  <c:pt idx="3">
                    <c:v>Carter</c:v>
                  </c:pt>
                  <c:pt idx="4">
                    <c:v>Reagan</c:v>
                  </c:pt>
                  <c:pt idx="5">
                    <c:v>Bush41</c:v>
                  </c:pt>
                  <c:pt idx="6">
                    <c:v>Clinton</c:v>
                  </c:pt>
                  <c:pt idx="7">
                    <c:v>Bush43</c:v>
                  </c:pt>
                  <c:pt idx="8">
                    <c:v>Obama</c:v>
                  </c:pt>
                  <c:pt idx="9">
                    <c:v>TrumpI</c:v>
                  </c:pt>
                  <c:pt idx="10">
                    <c:v>Biden</c:v>
                  </c:pt>
                  <c:pt idx="11">
                    <c:v>TrumpII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65</c:v>
                </c:pt>
                <c:pt idx="1">
                  <c:v>70</c:v>
                </c:pt>
                <c:pt idx="2">
                  <c:v>49</c:v>
                </c:pt>
                <c:pt idx="3">
                  <c:v>46</c:v>
                </c:pt>
                <c:pt idx="4">
                  <c:v>53</c:v>
                </c:pt>
                <c:pt idx="5">
                  <c:v>61</c:v>
                </c:pt>
                <c:pt idx="6">
                  <c:v>55</c:v>
                </c:pt>
                <c:pt idx="7">
                  <c:v>49</c:v>
                </c:pt>
                <c:pt idx="8">
                  <c:v>48</c:v>
                </c:pt>
                <c:pt idx="9">
                  <c:v>41</c:v>
                </c:pt>
                <c:pt idx="10">
                  <c:v>42</c:v>
                </c:pt>
                <c:pt idx="11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Presidential Approval Ratings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Analysis of the Polling Era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286000"/>
            <a:ext cx="1920240" cy="1417320"/>
          </a:xfrm>
          <a:prstGeom prst="rect">
            <a:avLst/>
          </a:prstGeom>
          <a:solidFill>
            <a:srgbClr val="2B5F96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31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9900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(Yr 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 elected presidents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2286000"/>
            <a:ext cx="1920240" cy="1417320"/>
          </a:xfrm>
          <a:prstGeom prst="rect">
            <a:avLst/>
          </a:prstGeom>
          <a:solidFill>
            <a:srgbClr val="2B5F96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2331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29900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lowest ever recorded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1144" y="2286000"/>
            <a:ext cx="1920240" cy="1417320"/>
          </a:xfrm>
          <a:prstGeom prst="rect">
            <a:avLst/>
          </a:prstGeom>
          <a:solidFill>
            <a:srgbClr val="2B5F96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2331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11th / 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81144" y="29900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1144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elected presidents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65976" y="2286000"/>
            <a:ext cx="1920240" cy="1417320"/>
          </a:xfrm>
          <a:prstGeom prst="rect">
            <a:avLst/>
          </a:prstGeom>
          <a:solidFill>
            <a:srgbClr val="2B5F96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65976" y="2331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&gt;80 pp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65976" y="29900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Partisan Gap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65976" y="3383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polling history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| American Presidency Project (UCSB) | FiveThirtyEight / Silver Bulletin | Decision Desk HQ | Brookings Institution | February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Gallup ceased presidential approval tracking on 11 February 2026.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First-Year Approval Ratings: All Elected Presidents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62179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777240"/>
            <a:ext cx="21945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822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Statistics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12280" y="1170432"/>
            <a:ext cx="192024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48272" y="1261872"/>
            <a:ext cx="2057400" cy="384048"/>
          </a:xfrm>
          <a:prstGeom prst="rect">
            <a:avLst/>
          </a:prstGeom>
          <a:solidFill>
            <a:srgbClr val="D5E8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28016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Mean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784848" y="1435608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56.1%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48272" y="1700784"/>
            <a:ext cx="2057400" cy="384048"/>
          </a:xfrm>
          <a:prstGeom prst="rect">
            <a:avLst/>
          </a:prstGeom>
          <a:solidFill>
            <a:srgbClr val="D5E8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1719072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784848" y="187452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48272" y="2139696"/>
            <a:ext cx="2057400" cy="384048"/>
          </a:xfrm>
          <a:prstGeom prst="rect">
            <a:avLst/>
          </a:prstGeom>
          <a:solidFill>
            <a:srgbClr val="D5E8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84848" y="2157984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84848" y="2313432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9.9 pp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748272" y="2578608"/>
            <a:ext cx="2057400" cy="384048"/>
          </a:xfrm>
          <a:prstGeom prst="rect">
            <a:avLst/>
          </a:prstGeom>
          <a:solidFill>
            <a:srgbClr val="FDDED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2596896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II (Yr 1)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84848" y="2752344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~44%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48272" y="3017520"/>
            <a:ext cx="2057400" cy="384048"/>
          </a:xfrm>
          <a:prstGeom prst="rect">
            <a:avLst/>
          </a:prstGeom>
          <a:solidFill>
            <a:srgbClr val="FDDED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84848" y="3035808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 (Yr 1)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84848" y="3191256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748272" y="3456432"/>
            <a:ext cx="2057400" cy="384048"/>
          </a:xfrm>
          <a:prstGeom prst="rect">
            <a:avLst/>
          </a:prstGeom>
          <a:solidFill>
            <a:srgbClr val="FDDED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84848" y="3474720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II z-score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784848" y="3630168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-1.22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48272" y="3895344"/>
            <a:ext cx="2057400" cy="384048"/>
          </a:xfrm>
          <a:prstGeom prst="rect">
            <a:avLst/>
          </a:prstGeom>
          <a:solidFill>
            <a:srgbClr val="FDDED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3913632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784848" y="4069080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17th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748272" y="4334256"/>
            <a:ext cx="2057400" cy="384048"/>
          </a:xfrm>
          <a:prstGeom prst="rect">
            <a:avLst/>
          </a:prstGeom>
          <a:solidFill>
            <a:srgbClr val="FDDED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84848" y="4352544"/>
            <a:ext cx="1984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Mean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784848" y="4507992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-12.1 pp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92608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Mean 56.1%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Trump II: Statistical Summary &amp;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B41E1E"/>
          </a:solidFill>
          <a:ln w="12700">
            <a:solidFill>
              <a:srgbClr val="B41E1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5029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777240"/>
            <a:ext cx="3383280" cy="28803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822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Statistical Findings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1170432"/>
            <a:ext cx="530352" cy="384048"/>
          </a:xfrm>
          <a:prstGeom prst="rect">
            <a:avLst/>
          </a:prstGeom>
          <a:solidFill>
            <a:srgbClr val="B41E1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17043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63056" y="11887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first-year avg of any elected president, above only his own 2017 term (39%)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673352"/>
            <a:ext cx="530352" cy="384048"/>
          </a:xfrm>
          <a:prstGeom prst="rect">
            <a:avLst/>
          </a:prstGeom>
          <a:solidFill>
            <a:srgbClr val="1A7A3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67335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63056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better than Trump I first year — stronger base enthusiasm post-2024 win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176272"/>
            <a:ext cx="53035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17627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–12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63056" y="2194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below historical mean (56.1%) — statistically significant (t = –4.23, p &lt; 0.01)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2679192"/>
            <a:ext cx="53035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267919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85pp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63056" y="26974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Partisan gap: largest ever recorded. Republican 89%, Democrat 3%, Independent ~28%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77840" y="3182112"/>
            <a:ext cx="530352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182112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63056" y="3200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month: November 2025 (~36–40%) — federal shutdown + economic concerns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374904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94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CONTEXT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" y="405993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partisan polarisation structurally constrains aggregate approval. A weighted model (Republican 28% × 89% + Democrat 29% × 4% + Independent 43% × 30%) yields ~39–44%, matching observed data — meaning approval is largely determined by party math, not performance alone.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Gallup ceased presidential approval tracking on 11 Feb 2026. Future monitoring relies on multi-pollster aggregates (DDHQ, Silver Bulletin, RCP).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Context: Polarisation &amp; the Approval Ceiling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8595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822192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822192"/>
            <a:ext cx="2834640" cy="73152"/>
          </a:xfrm>
          <a:prstGeom prst="rect">
            <a:avLst/>
          </a:prstGeom>
          <a:solidFill>
            <a:srgbClr val="B41E1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Inverse Relationship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15137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polarisation rose from 27pp (Eisenhower) to 85pp (Trump II), term-average approval trended downward — from 65% to the 40s.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3822192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3822192"/>
            <a:ext cx="283464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Floor &amp; Ceiling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415137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polarisation creates a ~37% floor (base party + few independents) and ~50% ceiling without cross-party appeal.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822192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3822192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Comparison Warning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415137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50% rating in 1960 reflects broad consensus; a 50% rating today requires near-unanimous party support + strong independents.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0"/>
          </a:solidFill>
          <a:ln w="12700">
            <a:solidFill>
              <a:srgbClr val="0F1F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| American Presidency Project (UCSB) | FiveThirtyEight | Brookings | February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Presidential Approval Ratings – Statistical Summary</dc:title>
  <dc:subject>PptxGenJS Presentation</dc:subject>
  <dc:creator>PptxGenJS</dc:creator>
  <cp:lastModifiedBy>PptxGenJS</cp:lastModifiedBy>
  <cp:revision>1</cp:revision>
  <dcterms:created xsi:type="dcterms:W3CDTF">2026-02-24T12:24:58Z</dcterms:created>
  <dcterms:modified xsi:type="dcterms:W3CDTF">2026-02-24T12:24:58Z</dcterms:modified>
</cp:coreProperties>
</file>